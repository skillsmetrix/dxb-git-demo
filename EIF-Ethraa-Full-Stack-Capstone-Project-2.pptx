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Lora" pitchFamily="2" charset="77"/>
      <p:regular r:id="rId13"/>
    </p:embeddedFont>
    <p:embeddedFont>
      <p:font typeface="Source Sans 3" panose="020B0303030403090204" pitchFamily="34" charset="0"/>
      <p:regular r:id="rId14"/>
      <p: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8575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577" y="1604888"/>
            <a:ext cx="3219748" cy="290661"/>
          </a:xfrm>
          <a:prstGeom prst="roundRect">
            <a:avLst>
              <a:gd name="adj" fmla="val 6177"/>
            </a:avLst>
          </a:prstGeom>
          <a:noFill/>
          <a:ln w="4763">
            <a:solidFill>
              <a:srgbClr val="F98A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18083" y="1654522"/>
            <a:ext cx="3487936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EIF ETHRAA | FULL STACK ENGINEERING CAPSTONE PROJECT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23577" y="1955378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EIF Ethraa Full Stack Capstone Project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523577" y="3059757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modern UAE banking platform — engineered to simulate real enterprise workflows, secure transactions, and digital KYC verification at scale.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35757" y="317450"/>
            <a:ext cx="739155" cy="153144"/>
          </a:xfrm>
          <a:prstGeom prst="roundRect">
            <a:avLst>
              <a:gd name="adj" fmla="val 7327"/>
            </a:avLst>
          </a:prstGeom>
          <a:solidFill>
            <a:srgbClr val="4904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91791" y="345430"/>
            <a:ext cx="1084287" cy="9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BUSINESS CONTEXT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535757" y="493961"/>
            <a:ext cx="3618830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Digital Banking Imperative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535757" y="2140223"/>
            <a:ext cx="2922166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Traditional banking infrastructure is under pressure. Customers expect seamless digital experiences, regulators demand rigorous KYC compliance, and institutions must modernize without compromising security or operational integrity.</a:t>
            </a:r>
            <a:endParaRPr lang="en-US" sz="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39" y="922362"/>
            <a:ext cx="2922166" cy="2922166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39" y="922362"/>
            <a:ext cx="2922166" cy="292216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535757" y="3975943"/>
            <a:ext cx="1985218" cy="621655"/>
          </a:xfrm>
          <a:prstGeom prst="roundRect">
            <a:avLst>
              <a:gd name="adj" fmla="val 7355"/>
            </a:avLst>
          </a:prstGeom>
          <a:solidFill>
            <a:srgbClr val="252833"/>
          </a:solidFill>
          <a:ln w="9525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6232" y="3975943"/>
            <a:ext cx="38100" cy="62165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67321" y="4078932"/>
            <a:ext cx="1557263" cy="137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Legacy Friction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1667321" y="4251424"/>
            <a:ext cx="1750665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Manual processes create bottlenecks and elevated operational risk</a:t>
            </a:r>
            <a:endParaRPr lang="en-US" sz="700" dirty="0"/>
          </a:p>
        </p:txBody>
      </p:sp>
      <p:sp>
        <p:nvSpPr>
          <p:cNvPr id="12" name="Shape 7"/>
          <p:cNvSpPr/>
          <p:nvPr/>
        </p:nvSpPr>
        <p:spPr>
          <a:xfrm>
            <a:off x="3579391" y="3975943"/>
            <a:ext cx="1985218" cy="621655"/>
          </a:xfrm>
          <a:prstGeom prst="roundRect">
            <a:avLst>
              <a:gd name="adj" fmla="val 7355"/>
            </a:avLst>
          </a:prstGeom>
          <a:solidFill>
            <a:srgbClr val="252833"/>
          </a:solidFill>
          <a:ln w="9525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9866" y="3975943"/>
            <a:ext cx="38100" cy="62165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710955" y="4078932"/>
            <a:ext cx="1557263" cy="137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KYC Compliance</a:t>
            </a:r>
            <a:endParaRPr lang="en-US" sz="850" dirty="0"/>
          </a:p>
        </p:txBody>
      </p:sp>
      <p:sp>
        <p:nvSpPr>
          <p:cNvPr id="15" name="Text 9"/>
          <p:cNvSpPr/>
          <p:nvPr/>
        </p:nvSpPr>
        <p:spPr>
          <a:xfrm>
            <a:off x="3710955" y="4251424"/>
            <a:ext cx="1750665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Regulatory identity verification demands precision and auditability</a:t>
            </a:r>
            <a:endParaRPr lang="en-US" sz="700" dirty="0"/>
          </a:p>
        </p:txBody>
      </p:sp>
      <p:sp>
        <p:nvSpPr>
          <p:cNvPr id="16" name="Shape 10"/>
          <p:cNvSpPr/>
          <p:nvPr/>
        </p:nvSpPr>
        <p:spPr>
          <a:xfrm>
            <a:off x="5623024" y="3975943"/>
            <a:ext cx="1985218" cy="621655"/>
          </a:xfrm>
          <a:prstGeom prst="roundRect">
            <a:avLst>
              <a:gd name="adj" fmla="val 7355"/>
            </a:avLst>
          </a:prstGeom>
          <a:solidFill>
            <a:srgbClr val="252833"/>
          </a:solidFill>
          <a:ln w="9525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3499" y="3975943"/>
            <a:ext cx="38100" cy="62165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754588" y="4078932"/>
            <a:ext cx="1557263" cy="137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Security Gaps</a:t>
            </a:r>
            <a:endParaRPr lang="en-US" sz="850" dirty="0"/>
          </a:p>
        </p:txBody>
      </p:sp>
      <p:sp>
        <p:nvSpPr>
          <p:cNvPr id="19" name="Text 12"/>
          <p:cNvSpPr/>
          <p:nvPr/>
        </p:nvSpPr>
        <p:spPr>
          <a:xfrm>
            <a:off x="5754588" y="4251424"/>
            <a:ext cx="1750665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Conventional systems lack modern authentication and encryption standards</a:t>
            </a:r>
            <a:endParaRPr lang="en-US" sz="700" dirty="0"/>
          </a:p>
        </p:txBody>
      </p:sp>
      <p:sp>
        <p:nvSpPr>
          <p:cNvPr id="20" name="Shape 13"/>
          <p:cNvSpPr/>
          <p:nvPr/>
        </p:nvSpPr>
        <p:spPr>
          <a:xfrm>
            <a:off x="1535757" y="4663306"/>
            <a:ext cx="2013942" cy="162669"/>
          </a:xfrm>
          <a:prstGeom prst="roundRect">
            <a:avLst>
              <a:gd name="adj" fmla="val 6898"/>
            </a:avLst>
          </a:prstGeom>
          <a:noFill/>
          <a:ln w="4763">
            <a:solidFill>
              <a:srgbClr val="F98A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/>
          <p:nvPr/>
        </p:nvSpPr>
        <p:spPr>
          <a:xfrm>
            <a:off x="1596554" y="4696048"/>
            <a:ext cx="2349550" cy="9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5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EIF ETHRAA | FULL STACK ENGINEERING CAPSTONE PROJECT</a:t>
            </a:r>
            <a:endParaRPr lang="en-US" sz="5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E29E75-8B15-D6FD-8CA3-76C18B3770D9}"/>
              </a:ext>
            </a:extLst>
          </p:cNvPr>
          <p:cNvSpPr/>
          <p:nvPr/>
        </p:nvSpPr>
        <p:spPr>
          <a:xfrm>
            <a:off x="7984435" y="4870174"/>
            <a:ext cx="1106556" cy="212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46240" y="355997"/>
            <a:ext cx="877342" cy="208508"/>
          </a:xfrm>
          <a:prstGeom prst="roundRect">
            <a:avLst>
              <a:gd name="adj" fmla="val 6861"/>
            </a:avLst>
          </a:prstGeom>
          <a:solidFill>
            <a:srgbClr val="4904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917752" y="391716"/>
            <a:ext cx="1191518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STRATEGIC VISION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846240" y="602456"/>
            <a:ext cx="397482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Vision &amp; Objectives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846240" y="1095598"/>
            <a:ext cx="4880521" cy="642045"/>
          </a:xfrm>
          <a:prstGeom prst="roundRect">
            <a:avLst>
              <a:gd name="adj" fmla="val 2785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965451" y="1214810"/>
            <a:ext cx="1871290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Experience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965451" y="1447130"/>
            <a:ext cx="5099298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Deliver a seamless, intuitive digital banking journey aligned with UAE customer expectations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846240" y="1832595"/>
            <a:ext cx="4880521" cy="813346"/>
          </a:xfrm>
          <a:prstGeom prst="roundRect">
            <a:avLst>
              <a:gd name="adj" fmla="val 2199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965451" y="1951806"/>
            <a:ext cx="18597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Secure Workflows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965451" y="2184127"/>
            <a:ext cx="4642098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Engineer end-to-end encrypted transactions with JWT-based authentication and role-based access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846240" y="2740893"/>
            <a:ext cx="4880521" cy="813346"/>
          </a:xfrm>
          <a:prstGeom prst="roundRect">
            <a:avLst>
              <a:gd name="adj" fmla="val 2199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965451" y="2860104"/>
            <a:ext cx="1927027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Real-World Simulation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965451" y="3092425"/>
            <a:ext cx="4642098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Mirror authentic UAE banking operations — Emirates ID transfers, KYC flows, and live transaction processing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846240" y="3649191"/>
            <a:ext cx="4880521" cy="813346"/>
          </a:xfrm>
          <a:prstGeom prst="roundRect">
            <a:avLst>
              <a:gd name="adj" fmla="val 2199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965451" y="3768403"/>
            <a:ext cx="18597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Enterprise-Ready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965451" y="4000723"/>
            <a:ext cx="4642098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with production-grade tooling: Spring Boot, React, Docker, Kubernetes, and AWS cloud infrastructure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846240" y="4569396"/>
            <a:ext cx="2566988" cy="218033"/>
          </a:xfrm>
          <a:prstGeom prst="roundRect">
            <a:avLst>
              <a:gd name="adj" fmla="val 6562"/>
            </a:avLst>
          </a:prstGeom>
          <a:noFill/>
          <a:ln w="4763">
            <a:solidFill>
              <a:srgbClr val="F98A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922514" y="4609877"/>
            <a:ext cx="2871639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EIF ETHRAA | FULL STACK ENGINEERING CAPSTONE PROJECT</a:t>
            </a:r>
            <a:endParaRPr lang="en-US" sz="7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5F728C-0E68-AC92-5A01-C9052CC8108E}"/>
              </a:ext>
            </a:extLst>
          </p:cNvPr>
          <p:cNvSpPr/>
          <p:nvPr/>
        </p:nvSpPr>
        <p:spPr>
          <a:xfrm>
            <a:off x="7984435" y="4870174"/>
            <a:ext cx="1106556" cy="212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894531"/>
            <a:ext cx="854050" cy="281136"/>
          </a:xfrm>
          <a:prstGeom prst="roundRect">
            <a:avLst>
              <a:gd name="adj" fmla="val 6386"/>
            </a:avLst>
          </a:prstGeom>
          <a:solidFill>
            <a:srgbClr val="4904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13321" y="939403"/>
            <a:ext cx="113176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CAPABILITIES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1235497"/>
            <a:ext cx="5279008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Platform Features at a Glance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899865"/>
            <a:ext cx="1092622" cy="6752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3577" y="2762101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Authentication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23577" y="3071813"/>
            <a:ext cx="1883941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 registration and JWT-protected login with session management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4521" y="1899865"/>
            <a:ext cx="1092622" cy="67523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94521" y="2762101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Deposit &amp; Withdraw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2594521" y="3071813"/>
            <a:ext cx="1883941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balance updates with validated transaction processing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5464" y="1899865"/>
            <a:ext cx="1092622" cy="67523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65464" y="2762101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KYC Management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665464" y="3071813"/>
            <a:ext cx="1883941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Digital identity verification with document submission and compliance tracking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6407" y="1899865"/>
            <a:ext cx="1092696" cy="6753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36407" y="2762176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Fund Transfer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736407" y="3071887"/>
            <a:ext cx="188401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Instant transfers via Emirates ID with real-time validation and confirmation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523577" y="3958307"/>
            <a:ext cx="3219748" cy="290661"/>
          </a:xfrm>
          <a:prstGeom prst="roundRect">
            <a:avLst>
              <a:gd name="adj" fmla="val 6177"/>
            </a:avLst>
          </a:prstGeom>
          <a:noFill/>
          <a:ln w="4763">
            <a:solidFill>
              <a:srgbClr val="F98A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618083" y="4007941"/>
            <a:ext cx="3487936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EIF ETHRAA | FULL STACK ENGINEERING CAPSTONE PROJECT</a:t>
            </a:r>
            <a:endParaRPr lang="en-US" sz="9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AD5ACB-C36A-93A9-82A6-FDD88ABF038B}"/>
              </a:ext>
            </a:extLst>
          </p:cNvPr>
          <p:cNvSpPr/>
          <p:nvPr/>
        </p:nvSpPr>
        <p:spPr>
          <a:xfrm>
            <a:off x="7984435" y="4870174"/>
            <a:ext cx="1106556" cy="212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63464" y="270570"/>
            <a:ext cx="508248" cy="139154"/>
          </a:xfrm>
          <a:prstGeom prst="roundRect">
            <a:avLst>
              <a:gd name="adj" fmla="val 7459"/>
            </a:avLst>
          </a:prstGeom>
          <a:solidFill>
            <a:srgbClr val="4904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15331" y="296466"/>
            <a:ext cx="861715" cy="87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ENGINEERING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1763464" y="429667"/>
            <a:ext cx="2492350" cy="25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63464" y="2002854"/>
            <a:ext cx="2703016" cy="327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production-grade, enterprise-aligned stack — selected for scalability, security, and cloud-native deployment readiness across every layer of the application.</a:t>
            </a:r>
            <a:endParaRPr lang="en-US" sz="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282" y="815132"/>
            <a:ext cx="2703016" cy="2703016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282" y="815132"/>
            <a:ext cx="2703016" cy="270301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763464" y="3630513"/>
            <a:ext cx="1366763" cy="548357"/>
          </a:xfrm>
          <a:prstGeom prst="roundRect">
            <a:avLst>
              <a:gd name="adj" fmla="val 2366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1849934" y="3716982"/>
            <a:ext cx="1474738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Frontend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849934" y="3874071"/>
            <a:ext cx="1193825" cy="218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ReactJS · HTML5 · CSS3 · Bootstrap · Axios</a:t>
            </a:r>
            <a:endParaRPr lang="en-US" sz="650" dirty="0"/>
          </a:p>
        </p:txBody>
      </p:sp>
      <p:sp>
        <p:nvSpPr>
          <p:cNvPr id="11" name="Shape 7"/>
          <p:cNvSpPr/>
          <p:nvPr/>
        </p:nvSpPr>
        <p:spPr>
          <a:xfrm>
            <a:off x="3180159" y="3630513"/>
            <a:ext cx="1366838" cy="548357"/>
          </a:xfrm>
          <a:prstGeom prst="roundRect">
            <a:avLst>
              <a:gd name="adj" fmla="val 2366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3266629" y="3716982"/>
            <a:ext cx="1474738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Backend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266629" y="3874071"/>
            <a:ext cx="1193899" cy="218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Java · Spring Boot · Spring Security · REST APIs · Maven</a:t>
            </a:r>
            <a:endParaRPr lang="en-US" sz="650" dirty="0"/>
          </a:p>
        </p:txBody>
      </p:sp>
      <p:sp>
        <p:nvSpPr>
          <p:cNvPr id="14" name="Shape 10"/>
          <p:cNvSpPr/>
          <p:nvPr/>
        </p:nvSpPr>
        <p:spPr>
          <a:xfrm>
            <a:off x="4596929" y="3630513"/>
            <a:ext cx="1366838" cy="548357"/>
          </a:xfrm>
          <a:prstGeom prst="roundRect">
            <a:avLst>
              <a:gd name="adj" fmla="val 2366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683398" y="3716982"/>
            <a:ext cx="1474738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Database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683398" y="3874071"/>
            <a:ext cx="1193899" cy="218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MySQL — relational data persistence</a:t>
            </a:r>
            <a:endParaRPr lang="en-US" sz="650" dirty="0"/>
          </a:p>
        </p:txBody>
      </p:sp>
      <p:sp>
        <p:nvSpPr>
          <p:cNvPr id="17" name="Shape 13"/>
          <p:cNvSpPr/>
          <p:nvPr/>
        </p:nvSpPr>
        <p:spPr>
          <a:xfrm>
            <a:off x="6013698" y="3630513"/>
            <a:ext cx="1366838" cy="548357"/>
          </a:xfrm>
          <a:prstGeom prst="roundRect">
            <a:avLst>
              <a:gd name="adj" fmla="val 2366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100167" y="3716982"/>
            <a:ext cx="1474738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Security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100167" y="3874071"/>
            <a:ext cx="1193899" cy="218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JWT Authentication · Role-based access control</a:t>
            </a:r>
            <a:endParaRPr lang="en-US" sz="650" dirty="0"/>
          </a:p>
        </p:txBody>
      </p:sp>
      <p:sp>
        <p:nvSpPr>
          <p:cNvPr id="20" name="Shape 16"/>
          <p:cNvSpPr/>
          <p:nvPr/>
        </p:nvSpPr>
        <p:spPr>
          <a:xfrm>
            <a:off x="1763464" y="4228802"/>
            <a:ext cx="5617071" cy="439192"/>
          </a:xfrm>
          <a:prstGeom prst="roundRect">
            <a:avLst>
              <a:gd name="adj" fmla="val 2954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1849934" y="4315271"/>
            <a:ext cx="1474738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Cloud &amp; DevOps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849934" y="4472360"/>
            <a:ext cx="5901333" cy="109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AWS · Docker · Kubernetes · Jenkins · GitHub · CI/CD</a:t>
            </a:r>
            <a:endParaRPr lang="en-US" sz="650" dirty="0"/>
          </a:p>
        </p:txBody>
      </p:sp>
      <p:sp>
        <p:nvSpPr>
          <p:cNvPr id="23" name="Shape 19"/>
          <p:cNvSpPr/>
          <p:nvPr/>
        </p:nvSpPr>
        <p:spPr>
          <a:xfrm>
            <a:off x="1763464" y="4724177"/>
            <a:ext cx="1864221" cy="148679"/>
          </a:xfrm>
          <a:prstGeom prst="roundRect">
            <a:avLst>
              <a:gd name="adj" fmla="val 6981"/>
            </a:avLst>
          </a:prstGeom>
          <a:noFill/>
          <a:ln w="4763">
            <a:solidFill>
              <a:srgbClr val="F98A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1820094" y="4754835"/>
            <a:ext cx="2208163" cy="87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EIF ETHRAA | FULL STACK ENGINEERING CAPSTONE PROJECT</a:t>
            </a:r>
            <a:endParaRPr lang="en-US" sz="5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9361EBA-4580-2A68-A887-6A36164DBE11}"/>
              </a:ext>
            </a:extLst>
          </p:cNvPr>
          <p:cNvSpPr/>
          <p:nvPr/>
        </p:nvSpPr>
        <p:spPr>
          <a:xfrm>
            <a:off x="7984435" y="4870174"/>
            <a:ext cx="1106556" cy="212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953" y="345430"/>
            <a:ext cx="791468" cy="219224"/>
          </a:xfrm>
          <a:prstGeom prst="roundRect">
            <a:avLst>
              <a:gd name="adj" fmla="val 6782"/>
            </a:avLst>
          </a:prstGeom>
          <a:solidFill>
            <a:srgbClr val="4904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23218" y="382563"/>
            <a:ext cx="1100138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953" y="605656"/>
            <a:ext cx="4592166" cy="36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System Architecture Overview</a:t>
            </a:r>
            <a:endParaRPr lang="en-US" sz="2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53" y="1123950"/>
            <a:ext cx="8046095" cy="28521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0576" y="1992735"/>
            <a:ext cx="1675064" cy="209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API &amp; Security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9229" y="2265279"/>
            <a:ext cx="1803611" cy="325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Spring Boot REST APIs with Spring Security and JWT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42755" y="2617670"/>
            <a:ext cx="2132264" cy="209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Core: React UI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42755" y="2890214"/>
            <a:ext cx="1961823" cy="325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interface making API calls via Axios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953" y="4091508"/>
            <a:ext cx="804609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architecture follows a clean separation of concerns — React communicates with Spring Boot via RESTful APIs, secured by JWT tokens, with all data persisted in MySQL and deployed on AWS using containerized CI/CD pipelines.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8953" y="4569321"/>
            <a:ext cx="2666702" cy="228749"/>
          </a:xfrm>
          <a:prstGeom prst="roundRect">
            <a:avLst>
              <a:gd name="adj" fmla="val 6500"/>
            </a:avLst>
          </a:prstGeom>
          <a:noFill/>
          <a:ln w="4763">
            <a:solidFill>
              <a:srgbClr val="F98A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7980" y="4611216"/>
            <a:ext cx="2965847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7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EIF ETHRAA | FULL STACK ENGINEERING CAPSTONE PROJECT</a:t>
            </a:r>
            <a:endParaRPr lang="en-US" sz="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E2C405-06A6-2F1E-5824-E9977CD6646C}"/>
              </a:ext>
            </a:extLst>
          </p:cNvPr>
          <p:cNvSpPr/>
          <p:nvPr/>
        </p:nvSpPr>
        <p:spPr>
          <a:xfrm>
            <a:off x="7984435" y="4870174"/>
            <a:ext cx="1106556" cy="212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54075"/>
            <a:ext cx="886346" cy="281136"/>
          </a:xfrm>
          <a:prstGeom prst="roundRect">
            <a:avLst>
              <a:gd name="adj" fmla="val 6386"/>
            </a:avLst>
          </a:prstGeom>
          <a:solidFill>
            <a:srgbClr val="4904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13321" y="498946"/>
            <a:ext cx="1164059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UI SHOWCASE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795040"/>
            <a:ext cx="501461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Banking Dashboard Screens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40" y="1555403"/>
            <a:ext cx="1932087" cy="1932087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0084" y="1555403"/>
            <a:ext cx="1932087" cy="1932087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1829" y="1555403"/>
            <a:ext cx="1932087" cy="1932087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3573" y="1555403"/>
            <a:ext cx="1932087" cy="193208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23577" y="3751734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screen reflects enterprise-grade UX principles — clear visual hierarchy, real-time data feedback, and streamlined interaction flows designed for both desktop and mobile contexts.</a:t>
            </a:r>
            <a:endParaRPr lang="en-US" sz="1150" dirty="0"/>
          </a:p>
        </p:txBody>
      </p:sp>
      <p:sp>
        <p:nvSpPr>
          <p:cNvPr id="10" name="Shape 4"/>
          <p:cNvSpPr/>
          <p:nvPr/>
        </p:nvSpPr>
        <p:spPr>
          <a:xfrm>
            <a:off x="523577" y="4398764"/>
            <a:ext cx="3219748" cy="290661"/>
          </a:xfrm>
          <a:prstGeom prst="roundRect">
            <a:avLst>
              <a:gd name="adj" fmla="val 6177"/>
            </a:avLst>
          </a:prstGeom>
          <a:noFill/>
          <a:ln w="4763">
            <a:solidFill>
              <a:srgbClr val="F98A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5"/>
          <p:cNvSpPr/>
          <p:nvPr/>
        </p:nvSpPr>
        <p:spPr>
          <a:xfrm>
            <a:off x="618083" y="4448398"/>
            <a:ext cx="3487936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EIF ETHRAA | FULL STACK ENGINEERING CAPSTONE PROJECT</a:t>
            </a:r>
            <a:endParaRPr lang="en-US" sz="9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CBA092-2FCE-BECD-D437-5CEF54ED5E79}"/>
              </a:ext>
            </a:extLst>
          </p:cNvPr>
          <p:cNvSpPr/>
          <p:nvPr/>
        </p:nvSpPr>
        <p:spPr>
          <a:xfrm>
            <a:off x="7984435" y="4870174"/>
            <a:ext cx="1106556" cy="212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8464" y="360164"/>
            <a:ext cx="629394" cy="192881"/>
          </a:xfrm>
          <a:prstGeom prst="roundRect">
            <a:avLst>
              <a:gd name="adj" fmla="val 6981"/>
            </a:avLst>
          </a:prstGeom>
          <a:solidFill>
            <a:srgbClr val="4904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95735" y="393799"/>
            <a:ext cx="952054" cy="125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WORKFLOWS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28464" y="586680"/>
            <a:ext cx="4429125" cy="330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KYC &amp; Fund Transfer Workflows</a:t>
            </a:r>
            <a:endParaRPr lang="en-US" sz="2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464" y="1137568"/>
            <a:ext cx="4640684" cy="26297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47606" y="1615678"/>
            <a:ext cx="2058144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Emirates ID Transfer Flow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847606" y="1864742"/>
            <a:ext cx="2372544" cy="628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Customers initiate transfers by entering a recipient's Emirates ID — the system validates identity, confirms balance, and processes the transaction in real time.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847606" y="2577182"/>
            <a:ext cx="177730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KYC Update Process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847606" y="2826246"/>
            <a:ext cx="2372544" cy="471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Users submit identity documents through a guided digital form. The system validates, stores, and flags records for compliance review automatically.</a:t>
            </a:r>
            <a:endParaRPr lang="en-US" sz="8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508" y="3960093"/>
            <a:ext cx="168250" cy="1682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93019" y="3956596"/>
            <a:ext cx="177730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Identity Input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293019" y="4172024"/>
            <a:ext cx="2451497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Emirates ID entry with real-time validation</a:t>
            </a:r>
            <a:endParaRPr lang="en-US" sz="8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34507" y="3960093"/>
            <a:ext cx="168250" cy="1682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57017" y="3956596"/>
            <a:ext cx="177730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Document Upload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3757017" y="4172024"/>
            <a:ext cx="2451571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 KYC document submission</a:t>
            </a:r>
            <a:endParaRPr lang="en-US" sz="8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8579" y="3960093"/>
            <a:ext cx="168250" cy="1682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21090" y="3956596"/>
            <a:ext cx="177730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Transaction Success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6221090" y="4172024"/>
            <a:ext cx="1994371" cy="314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Instant confirmation with reference number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928464" y="4580855"/>
            <a:ext cx="2415257" cy="202406"/>
          </a:xfrm>
          <a:prstGeom prst="roundRect">
            <a:avLst>
              <a:gd name="adj" fmla="val 6653"/>
            </a:avLst>
          </a:prstGeom>
          <a:noFill/>
          <a:ln w="4763">
            <a:solidFill>
              <a:srgbClr val="F98A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1000497" y="4619253"/>
            <a:ext cx="2728392" cy="125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EIF ETHRAA | FULL STACK ENGINEERING CAPSTONE PROJECT</a:t>
            </a:r>
            <a:endParaRPr lang="en-US" sz="7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01581B-1A7E-61C2-14C2-FE4F9A580767}"/>
              </a:ext>
            </a:extLst>
          </p:cNvPr>
          <p:cNvSpPr/>
          <p:nvPr/>
        </p:nvSpPr>
        <p:spPr>
          <a:xfrm>
            <a:off x="7984435" y="4870174"/>
            <a:ext cx="1106556" cy="212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982" y="419398"/>
            <a:ext cx="649039" cy="230014"/>
          </a:xfrm>
          <a:prstGeom prst="roundRect">
            <a:avLst>
              <a:gd name="adj" fmla="val 6708"/>
            </a:avLst>
          </a:prstGeom>
          <a:solidFill>
            <a:srgbClr val="4904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27075" y="457944"/>
            <a:ext cx="952054" cy="152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OUTCOMES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49982" y="693539"/>
            <a:ext cx="3833961" cy="3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Learning Outcomes</a:t>
            </a:r>
            <a:endParaRPr lang="en-US" sz="2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9982" y="1291977"/>
            <a:ext cx="128513" cy="128513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82" y="1441475"/>
            <a:ext cx="4066803" cy="142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9982" y="1534269"/>
            <a:ext cx="2111276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Full Stack Development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49982" y="1789584"/>
            <a:ext cx="4524003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End-to-end application build — from React frontend to Spring Boot backend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27215" y="1291977"/>
            <a:ext cx="128513" cy="128513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215" y="1441475"/>
            <a:ext cx="4066803" cy="142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627215" y="1534269"/>
            <a:ext cx="19698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REST API Integration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4627215" y="1789584"/>
            <a:ext cx="4516785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Designed and consumed RESTful services with Axios and Spring Data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9982" y="2216572"/>
            <a:ext cx="128513" cy="128513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82" y="2378943"/>
            <a:ext cx="4066803" cy="1428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49982" y="2484537"/>
            <a:ext cx="19698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Database Integration</a:t>
            </a:r>
            <a:endParaRPr lang="en-US" sz="1150" dirty="0"/>
          </a:p>
        </p:txBody>
      </p:sp>
      <p:sp>
        <p:nvSpPr>
          <p:cNvPr id="16" name="Text 8"/>
          <p:cNvSpPr/>
          <p:nvPr/>
        </p:nvSpPr>
        <p:spPr>
          <a:xfrm>
            <a:off x="449982" y="2739851"/>
            <a:ext cx="4066803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MySQL schema design, JPA entity mapping, and transactional data management</a:t>
            </a:r>
            <a:endParaRPr lang="en-US" sz="10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27215" y="2216572"/>
            <a:ext cx="128513" cy="128513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215" y="2378943"/>
            <a:ext cx="4066803" cy="1428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4627215" y="2484537"/>
            <a:ext cx="220600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Security Implementation</a:t>
            </a:r>
            <a:endParaRPr lang="en-US" sz="1150" dirty="0"/>
          </a:p>
        </p:txBody>
      </p:sp>
      <p:sp>
        <p:nvSpPr>
          <p:cNvPr id="20" name="Text 10"/>
          <p:cNvSpPr/>
          <p:nvPr/>
        </p:nvSpPr>
        <p:spPr>
          <a:xfrm>
            <a:off x="4627215" y="2739851"/>
            <a:ext cx="4066803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JWT authentication, Spring Security configuration, and secure session handling</a:t>
            </a:r>
            <a:endParaRPr lang="en-US" sz="10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9982" y="3332411"/>
            <a:ext cx="128513" cy="128513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82" y="3507581"/>
            <a:ext cx="4066803" cy="14288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449982" y="3626048"/>
            <a:ext cx="19698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DevOps &amp; Cloud</a:t>
            </a:r>
            <a:endParaRPr lang="en-US" sz="1150" dirty="0"/>
          </a:p>
        </p:txBody>
      </p:sp>
      <p:sp>
        <p:nvSpPr>
          <p:cNvPr id="24" name="Text 12"/>
          <p:cNvSpPr/>
          <p:nvPr/>
        </p:nvSpPr>
        <p:spPr>
          <a:xfrm>
            <a:off x="449982" y="3881363"/>
            <a:ext cx="4066803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Docker containerization, Kubernetes orchestration, and CI/CD pipelines on AWS</a:t>
            </a:r>
            <a:endParaRPr lang="en-US" sz="1000" dirty="0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27215" y="3332411"/>
            <a:ext cx="128513" cy="128513"/>
          </a:xfrm>
          <a:prstGeom prst="rect">
            <a:avLst/>
          </a:prstGeom>
        </p:spPr>
      </p:pic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215" y="3507581"/>
            <a:ext cx="4066803" cy="14288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4627215" y="3626048"/>
            <a:ext cx="2598688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Enterprise Banking Workflows</a:t>
            </a:r>
            <a:endParaRPr lang="en-US" sz="1150" dirty="0"/>
          </a:p>
        </p:txBody>
      </p:sp>
      <p:sp>
        <p:nvSpPr>
          <p:cNvPr id="28" name="Text 14"/>
          <p:cNvSpPr/>
          <p:nvPr/>
        </p:nvSpPr>
        <p:spPr>
          <a:xfrm>
            <a:off x="4627215" y="3881363"/>
            <a:ext cx="4066803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Real-world UAE banking scenarios — KYC, Emirates ID transfers, and compliance</a:t>
            </a:r>
            <a:endParaRPr lang="en-US" sz="1000" dirty="0"/>
          </a:p>
        </p:txBody>
      </p:sp>
      <p:sp>
        <p:nvSpPr>
          <p:cNvPr id="29" name="Shape 15"/>
          <p:cNvSpPr/>
          <p:nvPr/>
        </p:nvSpPr>
        <p:spPr>
          <a:xfrm>
            <a:off x="449982" y="4446017"/>
            <a:ext cx="2766566" cy="239539"/>
          </a:xfrm>
          <a:prstGeom prst="roundRect">
            <a:avLst>
              <a:gd name="adj" fmla="val 6441"/>
            </a:avLst>
          </a:prstGeom>
          <a:noFill/>
          <a:ln w="4763">
            <a:solidFill>
              <a:srgbClr val="F98A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16"/>
          <p:cNvSpPr/>
          <p:nvPr/>
        </p:nvSpPr>
        <p:spPr>
          <a:xfrm>
            <a:off x="531837" y="4527798"/>
            <a:ext cx="3060055" cy="152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EIF ETHRAA | FULL STACK ENGINEERING CAPSTONE PROJECT</a:t>
            </a:r>
            <a:endParaRPr lang="en-US" sz="8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0A24312-103E-0126-9C39-50562DD690AF}"/>
              </a:ext>
            </a:extLst>
          </p:cNvPr>
          <p:cNvSpPr/>
          <p:nvPr/>
        </p:nvSpPr>
        <p:spPr>
          <a:xfrm>
            <a:off x="7984435" y="4870174"/>
            <a:ext cx="1106556" cy="212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7281" y="630585"/>
            <a:ext cx="609079" cy="269453"/>
          </a:xfrm>
          <a:prstGeom prst="roundRect">
            <a:avLst>
              <a:gd name="adj" fmla="val 6455"/>
            </a:avLst>
          </a:prstGeom>
          <a:solidFill>
            <a:srgbClr val="4904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196" y="674043"/>
            <a:ext cx="892448" cy="182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CLOSING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7281" y="956146"/>
            <a:ext cx="3867448" cy="426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Conclusion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507281" y="1592982"/>
            <a:ext cx="4700439" cy="684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EIF Ethraa Capstone Project demonstrates that modern banking platforms can be built with enterprise rigor — combining secure architecture, intuitive UX, and cloud-native deployment in a single, cohesive solution.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7281" y="2435796"/>
            <a:ext cx="4700439" cy="1640235"/>
          </a:xfrm>
          <a:prstGeom prst="roundRect">
            <a:avLst>
              <a:gd name="adj" fmla="val 1325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07281" y="2435796"/>
            <a:ext cx="2350219" cy="820117"/>
          </a:xfrm>
          <a:prstGeom prst="roundRect">
            <a:avLst>
              <a:gd name="adj" fmla="val 2651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2165" y="2580680"/>
            <a:ext cx="2162324" cy="21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✅</a:t>
            </a: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Secure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2165" y="2882726"/>
            <a:ext cx="2517651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JWT-protected, compliance-ready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857500" y="2435796"/>
            <a:ext cx="2350219" cy="820117"/>
          </a:xfrm>
          <a:prstGeom prst="rect">
            <a:avLst/>
          </a:prstGeom>
          <a:solidFill>
            <a:srgbClr val="4447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857500" y="2435796"/>
            <a:ext cx="19050" cy="820117"/>
          </a:xfrm>
          <a:prstGeom prst="roundRect">
            <a:avLst>
              <a:gd name="adj" fmla="val 114124"/>
            </a:avLst>
          </a:prstGeom>
          <a:solidFill>
            <a:srgbClr val="5D6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002384" y="2580680"/>
            <a:ext cx="2162324" cy="21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🏦</a:t>
            </a: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Banking-Grade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002384" y="2882726"/>
            <a:ext cx="2517651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UAE workflows, KYC, Emirates ID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7281" y="3255913"/>
            <a:ext cx="4700439" cy="820117"/>
          </a:xfrm>
          <a:prstGeom prst="rect">
            <a:avLst/>
          </a:prstGeom>
          <a:solidFill>
            <a:srgbClr val="4447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07281" y="3255913"/>
            <a:ext cx="4700439" cy="19050"/>
          </a:xfrm>
          <a:prstGeom prst="roundRect">
            <a:avLst>
              <a:gd name="adj" fmla="val 114124"/>
            </a:avLst>
          </a:prstGeom>
          <a:solidFill>
            <a:srgbClr val="5D6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52165" y="3400797"/>
            <a:ext cx="2162324" cy="217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☁️</a:t>
            </a: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Cloud-Ready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52165" y="3702844"/>
            <a:ext cx="4867870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AWS, Docker, Kubernetes, CI/CD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07281" y="4233937"/>
            <a:ext cx="3117949" cy="278978"/>
          </a:xfrm>
          <a:prstGeom prst="roundRect">
            <a:avLst>
              <a:gd name="adj" fmla="val 6234"/>
            </a:avLst>
          </a:prstGeom>
          <a:noFill/>
          <a:ln w="4763">
            <a:solidFill>
              <a:srgbClr val="F98A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98959" y="4282157"/>
            <a:ext cx="3391793" cy="182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EIF ETHRAA | FULL STACK ENGINEERING CAPSTONE PROJECT</a:t>
            </a:r>
            <a:endParaRPr lang="en-US" sz="9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8A2574-61D5-21D3-7E86-02359337B689}"/>
              </a:ext>
            </a:extLst>
          </p:cNvPr>
          <p:cNvSpPr/>
          <p:nvPr/>
        </p:nvSpPr>
        <p:spPr>
          <a:xfrm>
            <a:off x="7984435" y="4870174"/>
            <a:ext cx="1106556" cy="212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715</Words>
  <Application>Microsoft Macintosh PowerPoint</Application>
  <PresentationFormat>On-screen Show (16:9)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Lora</vt:lpstr>
      <vt:lpstr>Source Sans 3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amarjeet singh</cp:lastModifiedBy>
  <cp:revision>2</cp:revision>
  <dcterms:created xsi:type="dcterms:W3CDTF">2026-05-16T12:02:54Z</dcterms:created>
  <dcterms:modified xsi:type="dcterms:W3CDTF">2026-05-17T17:34:53Z</dcterms:modified>
</cp:coreProperties>
</file>